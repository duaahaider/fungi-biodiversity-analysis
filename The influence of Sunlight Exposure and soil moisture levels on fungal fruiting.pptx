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7" r:id="rId2"/>
  </p:sldIdLst>
  <p:sldSz cx="21383625" cy="3027521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2425B8-87C2-4356-B5DE-3A3998BE4502}" v="111" dt="2026-01-12T10:50:40.8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1" d="100"/>
          <a:sy n="11" d="100"/>
        </p:scale>
        <p:origin x="2500" y="1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GB"/>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D12D811A-07A2-4EA4-86D4-11A3E0F2B9CE}" type="datetimeFigureOut">
              <a:rPr lang="en-GB" smtClean="0"/>
              <a:t>04/06/2026</a:t>
            </a:fld>
            <a:endParaRPr lang="en-GB"/>
          </a:p>
        </p:txBody>
      </p:sp>
      <p:sp>
        <p:nvSpPr>
          <p:cNvPr id="4" name="Slide Image Placeholder 3"/>
          <p:cNvSpPr>
            <a:spLocks noGrp="1" noRot="1" noChangeAspect="1"/>
          </p:cNvSpPr>
          <p:nvPr>
            <p:ph type="sldImg" idx="2"/>
          </p:nvPr>
        </p:nvSpPr>
        <p:spPr>
          <a:xfrm>
            <a:off x="2333625" y="1279525"/>
            <a:ext cx="2436813" cy="3454400"/>
          </a:xfrm>
          <a:prstGeom prst="rect">
            <a:avLst/>
          </a:prstGeom>
          <a:noFill/>
          <a:ln w="12700">
            <a:solidFill>
              <a:prstClr val="black"/>
            </a:solidFill>
          </a:ln>
        </p:spPr>
        <p:txBody>
          <a:bodyPr vert="horz" lIns="99075" tIns="49538" rIns="99075" bIns="49538" rtlCol="0" anchor="ctr"/>
          <a:lstStyle/>
          <a:p>
            <a:endParaRPr lang="en-GB"/>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GB"/>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53985C73-0389-4461-9019-8DFDDA3F3E0A}" type="slidenum">
              <a:rPr lang="en-GB" smtClean="0"/>
              <a:t>‹#›</a:t>
            </a:fld>
            <a:endParaRPr lang="en-GB"/>
          </a:p>
        </p:txBody>
      </p:sp>
    </p:spTree>
    <p:extLst>
      <p:ext uri="{BB962C8B-B14F-4D97-AF65-F5344CB8AC3E}">
        <p14:creationId xmlns:p14="http://schemas.microsoft.com/office/powerpoint/2010/main" val="2418607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4749E3-224C-47E1-868D-A04A71C148AD}"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338278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4749E3-224C-47E1-868D-A04A71C148AD}"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2993518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tint val="82000"/>
                  </a:schemeClr>
                </a:solidFill>
              </a:defRPr>
            </a:lvl1pPr>
            <a:lvl2pPr marL="1069162" indent="0">
              <a:buNone/>
              <a:defRPr sz="4677">
                <a:solidFill>
                  <a:schemeClr val="tx1">
                    <a:tint val="82000"/>
                  </a:schemeClr>
                </a:solidFill>
              </a:defRPr>
            </a:lvl2pPr>
            <a:lvl3pPr marL="2138324" indent="0">
              <a:buNone/>
              <a:defRPr sz="4209">
                <a:solidFill>
                  <a:schemeClr val="tx1">
                    <a:tint val="82000"/>
                  </a:schemeClr>
                </a:solidFill>
              </a:defRPr>
            </a:lvl3pPr>
            <a:lvl4pPr marL="3207487" indent="0">
              <a:buNone/>
              <a:defRPr sz="3742">
                <a:solidFill>
                  <a:schemeClr val="tx1">
                    <a:tint val="82000"/>
                  </a:schemeClr>
                </a:solidFill>
              </a:defRPr>
            </a:lvl4pPr>
            <a:lvl5pPr marL="4276649" indent="0">
              <a:buNone/>
              <a:defRPr sz="3742">
                <a:solidFill>
                  <a:schemeClr val="tx1">
                    <a:tint val="82000"/>
                  </a:schemeClr>
                </a:solidFill>
              </a:defRPr>
            </a:lvl5pPr>
            <a:lvl6pPr marL="5345811" indent="0">
              <a:buNone/>
              <a:defRPr sz="3742">
                <a:solidFill>
                  <a:schemeClr val="tx1">
                    <a:tint val="82000"/>
                  </a:schemeClr>
                </a:solidFill>
              </a:defRPr>
            </a:lvl6pPr>
            <a:lvl7pPr marL="6414973" indent="0">
              <a:buNone/>
              <a:defRPr sz="3742">
                <a:solidFill>
                  <a:schemeClr val="tx1">
                    <a:tint val="82000"/>
                  </a:schemeClr>
                </a:solidFill>
              </a:defRPr>
            </a:lvl7pPr>
            <a:lvl8pPr marL="7484135" indent="0">
              <a:buNone/>
              <a:defRPr sz="3742">
                <a:solidFill>
                  <a:schemeClr val="tx1">
                    <a:tint val="82000"/>
                  </a:schemeClr>
                </a:solidFill>
              </a:defRPr>
            </a:lvl8pPr>
            <a:lvl9pPr marL="8553298" indent="0">
              <a:buNone/>
              <a:defRPr sz="3742">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4749E3-224C-47E1-868D-A04A71C148AD}"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866224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4749E3-224C-47E1-868D-A04A71C148AD}" type="datetimeFigureOut">
              <a:rPr lang="en-GB" smtClean="0"/>
              <a:t>04/06/2026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2653191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4749E3-224C-47E1-868D-A04A71C148AD}" type="datetimeFigureOut">
              <a:rPr lang="en-GB" smtClean="0"/>
              <a:t>04/06/2026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440951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4749E3-224C-47E1-868D-A04A71C148AD}" type="datetimeFigureOut">
              <a:rPr lang="en-GB" smtClean="0"/>
              <a:t>04/06/2026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88104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4749E3-224C-47E1-868D-A04A71C148AD}" type="datetimeFigureOut">
              <a:rPr lang="en-GB" smtClean="0"/>
              <a:t>04/06/2026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3047276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0E4749E3-224C-47E1-868D-A04A71C148AD}" type="datetimeFigureOut">
              <a:rPr lang="en-GB" smtClean="0"/>
              <a:t>04/06/2026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1498013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a:t>Click icon to add picture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0E4749E3-224C-47E1-868D-A04A71C148AD}" type="datetimeFigureOut">
              <a:rPr lang="en-GB" smtClean="0"/>
              <a:t>04/06/2026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1067858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4749E3-224C-47E1-868D-A04A71C148AD}"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1620308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4749E3-224C-47E1-868D-A04A71C148AD}"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C82F05-84AA-4671-B0F0-A99E4F8B0C99}" type="slidenum">
              <a:rPr lang="en-GB" smtClean="0"/>
              <a:t>‹#›</a:t>
            </a:fld>
            <a:endParaRPr lang="en-GB"/>
          </a:p>
        </p:txBody>
      </p:sp>
    </p:spTree>
    <p:extLst>
      <p:ext uri="{BB962C8B-B14F-4D97-AF65-F5344CB8AC3E}">
        <p14:creationId xmlns:p14="http://schemas.microsoft.com/office/powerpoint/2010/main" val="3711202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82000"/>
                  </a:schemeClr>
                </a:solidFill>
              </a:defRPr>
            </a:lvl1pPr>
          </a:lstStyle>
          <a:p>
            <a:fld id="{0E4749E3-224C-47E1-868D-A04A71C148AD}" type="datetimeFigureOut">
              <a:rPr lang="en-GB" smtClean="0"/>
              <a:t>04/06/2026</a:t>
            </a:fld>
            <a:endParaRPr lang="en-GB"/>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82000"/>
                  </a:schemeClr>
                </a:solidFill>
              </a:defRPr>
            </a:lvl1pPr>
          </a:lstStyle>
          <a:p>
            <a:fld id="{53C82F05-84AA-4671-B0F0-A99E4F8B0C99}" type="slidenum">
              <a:rPr lang="en-GB" smtClean="0"/>
              <a:t>‹#›</a:t>
            </a:fld>
            <a:endParaRPr lang="en-GB"/>
          </a:p>
        </p:txBody>
      </p:sp>
    </p:spTree>
    <p:extLst>
      <p:ext uri="{BB962C8B-B14F-4D97-AF65-F5344CB8AC3E}">
        <p14:creationId xmlns:p14="http://schemas.microsoft.com/office/powerpoint/2010/main" val="2818061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onstructionhow.com/moisture-content-oven-drying/" TargetMode="External"/><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EE9618-CBAA-BB18-EA90-5F8B15BF983F}"/>
              </a:ext>
            </a:extLst>
          </p:cNvPr>
          <p:cNvSpPr txBox="1"/>
          <p:nvPr/>
        </p:nvSpPr>
        <p:spPr>
          <a:xfrm>
            <a:off x="2936710" y="58441"/>
            <a:ext cx="17351701" cy="1446550"/>
          </a:xfrm>
          <a:prstGeom prst="rect">
            <a:avLst/>
          </a:prstGeom>
          <a:noFill/>
        </p:spPr>
        <p:txBody>
          <a:bodyPr wrap="square" rtlCol="0">
            <a:spAutoFit/>
          </a:bodyPr>
          <a:lstStyle/>
          <a:p>
            <a:pPr algn="ctr"/>
            <a:r>
              <a:rPr lang="en-GB" sz="4400" dirty="0"/>
              <a:t>The Influence of Sunlight Exposure and Soil Moisture Levels on Fungi Fruiting  </a:t>
            </a:r>
          </a:p>
        </p:txBody>
      </p:sp>
      <p:sp>
        <p:nvSpPr>
          <p:cNvPr id="5" name="TextBox 4">
            <a:extLst>
              <a:ext uri="{FF2B5EF4-FFF2-40B4-BE49-F238E27FC236}">
                <a16:creationId xmlns:a16="http://schemas.microsoft.com/office/drawing/2014/main" id="{8297CF25-AE6D-27D2-F6C2-67A7CC18B7A4}"/>
              </a:ext>
            </a:extLst>
          </p:cNvPr>
          <p:cNvSpPr txBox="1"/>
          <p:nvPr/>
        </p:nvSpPr>
        <p:spPr>
          <a:xfrm>
            <a:off x="251460" y="1493915"/>
            <a:ext cx="20737956" cy="2246769"/>
          </a:xfrm>
          <a:prstGeom prst="rect">
            <a:avLst/>
          </a:prstGeom>
          <a:noFill/>
          <a:ln w="38100">
            <a:solidFill>
              <a:schemeClr val="tx1"/>
            </a:solidFill>
          </a:ln>
        </p:spPr>
        <p:txBody>
          <a:bodyPr wrap="square" rtlCol="0">
            <a:spAutoFit/>
          </a:bodyPr>
          <a:lstStyle/>
          <a:p>
            <a:r>
              <a:rPr lang="en-GB" sz="3000" dirty="0"/>
              <a:t>Introduction</a:t>
            </a:r>
          </a:p>
          <a:p>
            <a:pPr marL="457200" indent="-457200">
              <a:buFont typeface="Arial" panose="020B0604020202020204" pitchFamily="34" charset="0"/>
              <a:buChar char="•"/>
            </a:pPr>
            <a:r>
              <a:rPr lang="en-GB" sz="2200" dirty="0"/>
              <a:t>Fungi are primary decomposers that are essential for nutrient cycling [1]</a:t>
            </a:r>
          </a:p>
          <a:p>
            <a:pPr marL="457200" indent="-457200">
              <a:buFont typeface="Arial" panose="020B0604020202020204" pitchFamily="34" charset="0"/>
              <a:buChar char="•"/>
            </a:pPr>
            <a:r>
              <a:rPr lang="en-GB" sz="2200" dirty="0"/>
              <a:t>Fungal success is highly dependent on soil moisture levels, and sunlight exposure reduces soil moisture levels, potentially leading to desiccation which inhibits fruiting. [2]</a:t>
            </a:r>
          </a:p>
          <a:p>
            <a:pPr marL="457200" indent="-457200">
              <a:buFont typeface="Arial" panose="020B0604020202020204" pitchFamily="34" charset="0"/>
              <a:buChar char="•"/>
            </a:pPr>
            <a:r>
              <a:rPr lang="en-GB" sz="2200" dirty="0"/>
              <a:t>The research objective is to determine if sunlight exposure significantly affects mushroom abundance with soil moisture levels being the explanatory variable </a:t>
            </a:r>
          </a:p>
          <a:p>
            <a:pPr marL="457200" indent="-457200">
              <a:buFont typeface="Arial" panose="020B0604020202020204" pitchFamily="34" charset="0"/>
              <a:buChar char="•"/>
            </a:pPr>
            <a:r>
              <a:rPr lang="en-GB" sz="2200" b="1" dirty="0"/>
              <a:t>Hypothesis – Shaded areas will exhibit higher soil moisture and consequently a greater abundance of mushrooms compared to unshaded areas. </a:t>
            </a:r>
          </a:p>
        </p:txBody>
      </p:sp>
      <p:sp>
        <p:nvSpPr>
          <p:cNvPr id="9" name="TextBox 8">
            <a:extLst>
              <a:ext uri="{FF2B5EF4-FFF2-40B4-BE49-F238E27FC236}">
                <a16:creationId xmlns:a16="http://schemas.microsoft.com/office/drawing/2014/main" id="{2A1E8166-EA04-CB3E-E2FB-FD52D0E95F68}"/>
              </a:ext>
            </a:extLst>
          </p:cNvPr>
          <p:cNvSpPr txBox="1"/>
          <p:nvPr/>
        </p:nvSpPr>
        <p:spPr>
          <a:xfrm>
            <a:off x="357469" y="4261383"/>
            <a:ext cx="7504007" cy="5940088"/>
          </a:xfrm>
          <a:prstGeom prst="rect">
            <a:avLst/>
          </a:prstGeom>
          <a:noFill/>
          <a:ln w="38100">
            <a:solidFill>
              <a:schemeClr val="tx1"/>
            </a:solidFill>
          </a:ln>
        </p:spPr>
        <p:txBody>
          <a:bodyPr wrap="square" rtlCol="0">
            <a:spAutoFit/>
          </a:bodyPr>
          <a:lstStyle/>
          <a:p>
            <a:r>
              <a:rPr lang="en-GB" sz="3000" dirty="0"/>
              <a:t>Methods</a:t>
            </a:r>
            <a:endParaRPr lang="en-GB" sz="2000" b="1" dirty="0"/>
          </a:p>
          <a:p>
            <a:pPr marL="342900" indent="-342900">
              <a:buFont typeface="Arial" panose="020B0604020202020204" pitchFamily="34" charset="0"/>
              <a:buChar char="•"/>
            </a:pPr>
            <a:r>
              <a:rPr lang="en-GB" sz="2000" dirty="0"/>
              <a:t>4 different sites in both unshaded and shaded areas were sampled (n=4)</a:t>
            </a:r>
          </a:p>
          <a:p>
            <a:pPr marL="342900" indent="-342900">
              <a:buFont typeface="Arial" panose="020B0604020202020204" pitchFamily="34" charset="0"/>
              <a:buChar char="•"/>
            </a:pPr>
            <a:r>
              <a:rPr lang="en-GB" sz="2000" dirty="0"/>
              <a:t>Sites were randomly selected to avoid investigator bias in both environments</a:t>
            </a:r>
          </a:p>
          <a:p>
            <a:pPr marL="342900" indent="-342900">
              <a:buFont typeface="Arial" panose="020B0604020202020204" pitchFamily="34" charset="0"/>
              <a:buChar char="•"/>
            </a:pPr>
            <a:r>
              <a:rPr lang="en-GB" sz="2000" dirty="0"/>
              <a:t>10m x 10m quadrats were used to measure mushroom abundance</a:t>
            </a:r>
          </a:p>
          <a:p>
            <a:pPr marL="342900" indent="-342900">
              <a:buFont typeface="Arial" panose="020B0604020202020204" pitchFamily="34" charset="0"/>
              <a:buChar char="•"/>
            </a:pPr>
            <a:r>
              <a:rPr lang="en-GB" sz="2000" dirty="0"/>
              <a:t>Bamboo sticks used to mark 10m</a:t>
            </a:r>
            <a:r>
              <a:rPr lang="en-GB" sz="1600" dirty="0"/>
              <a:t>2</a:t>
            </a:r>
            <a:r>
              <a:rPr lang="en-GB" sz="2000" dirty="0"/>
              <a:t> boundaries</a:t>
            </a:r>
          </a:p>
          <a:p>
            <a:pPr marL="342900" indent="-342900">
              <a:buFont typeface="Arial" panose="020B0604020202020204" pitchFamily="34" charset="0"/>
              <a:buChar char="•"/>
            </a:pPr>
            <a:r>
              <a:rPr lang="en-GB" sz="2000" dirty="0"/>
              <a:t>Cameras were used to photograph each mushroom identified for documentation</a:t>
            </a:r>
          </a:p>
          <a:p>
            <a:pPr marL="342900" indent="-342900">
              <a:buFont typeface="Arial" panose="020B0604020202020204" pitchFamily="34" charset="0"/>
              <a:buChar char="•"/>
            </a:pPr>
            <a:r>
              <a:rPr lang="en-GB" sz="2000" dirty="0"/>
              <a:t>Soil samples were collected to 5cm depth using a spade and placed in labelled bags</a:t>
            </a:r>
          </a:p>
          <a:p>
            <a:pPr marL="342900" indent="-342900">
              <a:buFont typeface="Arial" panose="020B0604020202020204" pitchFamily="34" charset="0"/>
              <a:buChar char="•"/>
            </a:pPr>
            <a:r>
              <a:rPr lang="en-GB" sz="2000" dirty="0"/>
              <a:t>Soil moisture was measured using the oven-dry method. [3] Fresh soil was weighed, and dried until a constant mass then reweighed. Moisture content was calculating using the following formula :</a:t>
            </a:r>
          </a:p>
          <a:p>
            <a:r>
              <a:rPr lang="en-GB" sz="2500" b="1" dirty="0"/>
              <a:t>Soil moisture (%) = (Fresh weight - Dry weight) / Fresh weight × 100</a:t>
            </a:r>
          </a:p>
        </p:txBody>
      </p:sp>
      <p:sp>
        <p:nvSpPr>
          <p:cNvPr id="11" name="TextBox 10">
            <a:extLst>
              <a:ext uri="{FF2B5EF4-FFF2-40B4-BE49-F238E27FC236}">
                <a16:creationId xmlns:a16="http://schemas.microsoft.com/office/drawing/2014/main" id="{B59A85C9-6B04-D8D7-3EC5-6B4CB1549402}"/>
              </a:ext>
            </a:extLst>
          </p:cNvPr>
          <p:cNvSpPr txBox="1"/>
          <p:nvPr/>
        </p:nvSpPr>
        <p:spPr>
          <a:xfrm>
            <a:off x="357469" y="23578959"/>
            <a:ext cx="9655550" cy="5324535"/>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r>
              <a:rPr lang="en-GB" sz="2800" dirty="0"/>
              <a:t>Limitations </a:t>
            </a:r>
          </a:p>
          <a:p>
            <a:pPr marL="457200" indent="-457200">
              <a:buFont typeface="Arial" panose="020B0604020202020204" pitchFamily="34" charset="0"/>
              <a:buChar char="•"/>
            </a:pPr>
            <a:r>
              <a:rPr lang="en-GB" sz="2400" b="1" dirty="0"/>
              <a:t>Small sample size </a:t>
            </a:r>
            <a:r>
              <a:rPr lang="en-GB" sz="2400" dirty="0"/>
              <a:t>(n=4) limited statistical power, reducing the ability to detect significant differences despite large biological variation in mushroom totals between both sites (</a:t>
            </a:r>
            <a:r>
              <a:rPr lang="en-GB" sz="2400" b="1" dirty="0"/>
              <a:t>31 </a:t>
            </a:r>
            <a:r>
              <a:rPr lang="en-GB" sz="2400" dirty="0"/>
              <a:t>vs </a:t>
            </a:r>
            <a:r>
              <a:rPr lang="en-GB" sz="2400" b="1" dirty="0"/>
              <a:t>232)</a:t>
            </a:r>
            <a:r>
              <a:rPr lang="en-GB" sz="2400" dirty="0"/>
              <a:t>.</a:t>
            </a:r>
          </a:p>
          <a:p>
            <a:pPr marL="457200" indent="-457200">
              <a:buFont typeface="Arial" panose="020B0604020202020204" pitchFamily="34" charset="0"/>
              <a:buChar char="•"/>
            </a:pPr>
            <a:r>
              <a:rPr lang="en-GB" sz="2400" b="1" dirty="0"/>
              <a:t>High variability </a:t>
            </a:r>
            <a:r>
              <a:rPr lang="en-GB" sz="2400" dirty="0"/>
              <a:t>within unshaded plots (9-108 mushrooms) further contributed to non-significant Welch t-test results.</a:t>
            </a:r>
          </a:p>
          <a:p>
            <a:pPr marL="457200" indent="-457200">
              <a:buFont typeface="Arial" panose="020B0604020202020204" pitchFamily="34" charset="0"/>
              <a:buChar char="•"/>
            </a:pPr>
            <a:r>
              <a:rPr lang="en-GB" sz="2400" dirty="0"/>
              <a:t>The study did not control for additional environmental factors known to influence fungal fruiting including soil pH, temperature, nutrient availability and interspecific competition, </a:t>
            </a:r>
          </a:p>
          <a:p>
            <a:pPr marL="457200" indent="-457200">
              <a:buFont typeface="Arial" panose="020B0604020202020204" pitchFamily="34" charset="0"/>
              <a:buChar char="•"/>
            </a:pPr>
            <a:r>
              <a:rPr lang="en-GB" sz="2400" dirty="0"/>
              <a:t>Data were collected at a single time point which fails to account for the fact that fungal fruiting responds rapidly to short-term environment changes [1], so results may only reflect recent weather conditions rather than long-term patterns</a:t>
            </a:r>
          </a:p>
          <a:p>
            <a:pPr marL="457200" indent="-457200">
              <a:buFont typeface="Arial" panose="020B0604020202020204" pitchFamily="34" charset="0"/>
              <a:buChar char="•"/>
            </a:pPr>
            <a:r>
              <a:rPr lang="en-GB" sz="2400" dirty="0"/>
              <a:t>Mushroom species was not identified and </a:t>
            </a:r>
            <a:r>
              <a:rPr lang="en-GB" sz="2400"/>
              <a:t>accounted for.</a:t>
            </a:r>
            <a:endParaRPr lang="en-GB" sz="2400" dirty="0"/>
          </a:p>
        </p:txBody>
      </p:sp>
      <p:sp>
        <p:nvSpPr>
          <p:cNvPr id="15" name="TextBox 14">
            <a:extLst>
              <a:ext uri="{FF2B5EF4-FFF2-40B4-BE49-F238E27FC236}">
                <a16:creationId xmlns:a16="http://schemas.microsoft.com/office/drawing/2014/main" id="{7D6077DC-42FD-E5EA-C0E7-2F69DC4C5FE9}"/>
              </a:ext>
            </a:extLst>
          </p:cNvPr>
          <p:cNvSpPr txBox="1"/>
          <p:nvPr/>
        </p:nvSpPr>
        <p:spPr>
          <a:xfrm>
            <a:off x="10391208" y="21039803"/>
            <a:ext cx="10499210" cy="7863691"/>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r>
              <a:rPr lang="en-GB" sz="3000" dirty="0"/>
              <a:t>Discussion</a:t>
            </a:r>
          </a:p>
          <a:p>
            <a:pPr marL="342900" indent="-342900">
              <a:buFont typeface="Arial" panose="020B0604020202020204" pitchFamily="34" charset="0"/>
              <a:buChar char="•"/>
            </a:pPr>
            <a:r>
              <a:rPr lang="en-GB" sz="2500" b="1" dirty="0"/>
              <a:t>Refutation of hypothesis – </a:t>
            </a:r>
            <a:r>
              <a:rPr lang="en-GB" sz="2500" dirty="0"/>
              <a:t>Results directly contradict the initial hypothesis that shaded areas would exhibit greater mushroom abundance. </a:t>
            </a:r>
          </a:p>
          <a:p>
            <a:pPr marL="342900" indent="-342900">
              <a:buFont typeface="Arial" panose="020B0604020202020204" pitchFamily="34" charset="0"/>
              <a:buChar char="•"/>
            </a:pPr>
            <a:r>
              <a:rPr lang="en-GB" sz="2500" b="1" dirty="0"/>
              <a:t>Biological significance – </a:t>
            </a:r>
            <a:r>
              <a:rPr lang="en-GB" sz="2500" dirty="0"/>
              <a:t>Although the Welch-t-test (p=0.09) did not reach the 0.05 threshold for significance, the notable biological difference in  average mushroom abundance between unshaded (58.00) vs shaded (7.75) suggests that unshaded environmental conditions strongly favoured fruiting</a:t>
            </a:r>
          </a:p>
          <a:p>
            <a:pPr marL="342900" indent="-342900">
              <a:buFont typeface="Arial" panose="020B0604020202020204" pitchFamily="34" charset="0"/>
              <a:buChar char="•"/>
            </a:pPr>
            <a:r>
              <a:rPr lang="en-GB" sz="2500" b="1" dirty="0"/>
              <a:t>Effect of moisture levels </a:t>
            </a:r>
            <a:r>
              <a:rPr lang="en-GB" sz="2500" dirty="0"/>
              <a:t> - Unshaded plots had a higher mean soil moisture content (21.29% vs 17.72%), suggesting that hydration levels are a primary driver of fruiting and outweigh any desiccation effects caused by solar exposure</a:t>
            </a:r>
          </a:p>
          <a:p>
            <a:pPr marL="342900" indent="-342900">
              <a:buFont typeface="Arial" panose="020B0604020202020204" pitchFamily="34" charset="0"/>
              <a:buChar char="•"/>
            </a:pPr>
            <a:r>
              <a:rPr lang="en-GB" sz="2500" b="1" dirty="0"/>
              <a:t>“Threshold hypothesis” </a:t>
            </a:r>
            <a:r>
              <a:rPr lang="en-GB" sz="2500" dirty="0"/>
              <a:t>– No significant linear relationship was found between moisture and abundance (r= -0.03, p = 0.94), and mushroom abundance peaked at intermediate levels (20% moisture) suggests that fruiting peaks at moderate levels before declining, possibly due to the soil becoming waterlogged creating anaerobic conditions that inhibit fungal metabolism. Further research should investigate the threshold hypothesis to clarify the non-linear relationship.</a:t>
            </a:r>
            <a:endParaRPr lang="en-GB" sz="2500" b="1" dirty="0"/>
          </a:p>
        </p:txBody>
      </p:sp>
      <p:pic>
        <p:nvPicPr>
          <p:cNvPr id="18" name="Picture 17">
            <a:extLst>
              <a:ext uri="{FF2B5EF4-FFF2-40B4-BE49-F238E27FC236}">
                <a16:creationId xmlns:a16="http://schemas.microsoft.com/office/drawing/2014/main" id="{04369F97-51B5-4955-EF44-3EE823046C58}"/>
              </a:ext>
            </a:extLst>
          </p:cNvPr>
          <p:cNvPicPr>
            <a:picLocks noChangeAspect="1"/>
          </p:cNvPicPr>
          <p:nvPr/>
        </p:nvPicPr>
        <p:blipFill>
          <a:blip r:embed="rId2"/>
          <a:stretch>
            <a:fillRect/>
          </a:stretch>
        </p:blipFill>
        <p:spPr>
          <a:xfrm>
            <a:off x="8014377" y="4214882"/>
            <a:ext cx="12975039" cy="6035777"/>
          </a:xfrm>
          <a:prstGeom prst="rect">
            <a:avLst/>
          </a:prstGeom>
        </p:spPr>
      </p:pic>
      <p:graphicFrame>
        <p:nvGraphicFramePr>
          <p:cNvPr id="20" name="Table 19">
            <a:extLst>
              <a:ext uri="{FF2B5EF4-FFF2-40B4-BE49-F238E27FC236}">
                <a16:creationId xmlns:a16="http://schemas.microsoft.com/office/drawing/2014/main" id="{BF157032-7A8A-67B5-5CA4-2D731D0E9BAE}"/>
              </a:ext>
            </a:extLst>
          </p:cNvPr>
          <p:cNvGraphicFramePr>
            <a:graphicFrameLocks noGrp="1"/>
          </p:cNvGraphicFramePr>
          <p:nvPr>
            <p:extLst>
              <p:ext uri="{D42A27DB-BD31-4B8C-83A1-F6EECF244321}">
                <p14:modId xmlns:p14="http://schemas.microsoft.com/office/powerpoint/2010/main" val="695041504"/>
              </p:ext>
            </p:extLst>
          </p:nvPr>
        </p:nvGraphicFramePr>
        <p:xfrm>
          <a:off x="10090336" y="17613755"/>
          <a:ext cx="10800082" cy="1330174"/>
        </p:xfrm>
        <a:graphic>
          <a:graphicData uri="http://schemas.openxmlformats.org/drawingml/2006/table">
            <a:tbl>
              <a:tblPr firstRow="1" bandRow="1">
                <a:tableStyleId>{5C22544A-7EE6-4342-B048-85BDC9FD1C3A}</a:tableStyleId>
              </a:tblPr>
              <a:tblGrid>
                <a:gridCol w="2083356">
                  <a:extLst>
                    <a:ext uri="{9D8B030D-6E8A-4147-A177-3AD203B41FA5}">
                      <a16:colId xmlns:a16="http://schemas.microsoft.com/office/drawing/2014/main" val="282696387"/>
                    </a:ext>
                  </a:extLst>
                </a:gridCol>
                <a:gridCol w="4358363">
                  <a:extLst>
                    <a:ext uri="{9D8B030D-6E8A-4147-A177-3AD203B41FA5}">
                      <a16:colId xmlns:a16="http://schemas.microsoft.com/office/drawing/2014/main" val="746197539"/>
                    </a:ext>
                  </a:extLst>
                </a:gridCol>
                <a:gridCol w="4358363">
                  <a:extLst>
                    <a:ext uri="{9D8B030D-6E8A-4147-A177-3AD203B41FA5}">
                      <a16:colId xmlns:a16="http://schemas.microsoft.com/office/drawing/2014/main" val="210552345"/>
                    </a:ext>
                  </a:extLst>
                </a:gridCol>
              </a:tblGrid>
              <a:tr h="390804">
                <a:tc>
                  <a:txBody>
                    <a:bodyPr/>
                    <a:lstStyle/>
                    <a:p>
                      <a:r>
                        <a:rPr lang="en-GB" sz="2000" b="0" dirty="0"/>
                        <a:t>Location</a:t>
                      </a:r>
                    </a:p>
                  </a:txBody>
                  <a:tcPr>
                    <a:solidFill>
                      <a:schemeClr val="accent1">
                        <a:lumMod val="60000"/>
                        <a:lumOff val="40000"/>
                      </a:schemeClr>
                    </a:solidFill>
                  </a:tcPr>
                </a:tc>
                <a:tc>
                  <a:txBody>
                    <a:bodyPr/>
                    <a:lstStyle/>
                    <a:p>
                      <a:r>
                        <a:rPr lang="en-GB" sz="2000" b="0" dirty="0"/>
                        <a:t>Avg. Mushroom Count</a:t>
                      </a:r>
                    </a:p>
                  </a:txBody>
                  <a:tcPr>
                    <a:solidFill>
                      <a:schemeClr val="accent1">
                        <a:lumMod val="60000"/>
                        <a:lumOff val="40000"/>
                      </a:schemeClr>
                    </a:solidFill>
                  </a:tcPr>
                </a:tc>
                <a:tc>
                  <a:txBody>
                    <a:bodyPr/>
                    <a:lstStyle/>
                    <a:p>
                      <a:r>
                        <a:rPr lang="en-GB" sz="2000" b="0" dirty="0"/>
                        <a:t>Avg. Soil moisture (%)</a:t>
                      </a:r>
                    </a:p>
                  </a:txBody>
                  <a:tcPr>
                    <a:solidFill>
                      <a:schemeClr val="accent1">
                        <a:lumMod val="60000"/>
                        <a:lumOff val="40000"/>
                      </a:schemeClr>
                    </a:solidFill>
                  </a:tcPr>
                </a:tc>
                <a:extLst>
                  <a:ext uri="{0D108BD9-81ED-4DB2-BD59-A6C34878D82A}">
                    <a16:rowId xmlns:a16="http://schemas.microsoft.com/office/drawing/2014/main" val="879238144"/>
                  </a:ext>
                </a:extLst>
              </a:tr>
              <a:tr h="491974">
                <a:tc>
                  <a:txBody>
                    <a:bodyPr/>
                    <a:lstStyle/>
                    <a:p>
                      <a:r>
                        <a:rPr lang="en-GB" sz="2300" dirty="0"/>
                        <a:t>Unshaded</a:t>
                      </a:r>
                    </a:p>
                  </a:txBody>
                  <a:tcPr/>
                </a:tc>
                <a:tc>
                  <a:txBody>
                    <a:bodyPr/>
                    <a:lstStyle/>
                    <a:p>
                      <a:r>
                        <a:rPr lang="en-GB" sz="2300" dirty="0"/>
                        <a:t>58.00</a:t>
                      </a:r>
                    </a:p>
                  </a:txBody>
                  <a:tcPr/>
                </a:tc>
                <a:tc>
                  <a:txBody>
                    <a:bodyPr/>
                    <a:lstStyle/>
                    <a:p>
                      <a:r>
                        <a:rPr lang="en-GB" sz="2300" dirty="0"/>
                        <a:t>21.29</a:t>
                      </a:r>
                    </a:p>
                  </a:txBody>
                  <a:tcPr/>
                </a:tc>
                <a:extLst>
                  <a:ext uri="{0D108BD9-81ED-4DB2-BD59-A6C34878D82A}">
                    <a16:rowId xmlns:a16="http://schemas.microsoft.com/office/drawing/2014/main" val="2339751009"/>
                  </a:ext>
                </a:extLst>
              </a:tr>
              <a:tr h="440662">
                <a:tc>
                  <a:txBody>
                    <a:bodyPr/>
                    <a:lstStyle/>
                    <a:p>
                      <a:r>
                        <a:rPr lang="en-GB" sz="2300" dirty="0"/>
                        <a:t>Shaded</a:t>
                      </a:r>
                    </a:p>
                  </a:txBody>
                  <a:tcPr/>
                </a:tc>
                <a:tc>
                  <a:txBody>
                    <a:bodyPr/>
                    <a:lstStyle/>
                    <a:p>
                      <a:r>
                        <a:rPr lang="en-GB" sz="2300" dirty="0"/>
                        <a:t>7.750</a:t>
                      </a:r>
                    </a:p>
                  </a:txBody>
                  <a:tcPr/>
                </a:tc>
                <a:tc>
                  <a:txBody>
                    <a:bodyPr/>
                    <a:lstStyle/>
                    <a:p>
                      <a:r>
                        <a:rPr lang="en-GB" sz="2300" dirty="0"/>
                        <a:t>17.72</a:t>
                      </a:r>
                    </a:p>
                  </a:txBody>
                  <a:tcPr/>
                </a:tc>
                <a:extLst>
                  <a:ext uri="{0D108BD9-81ED-4DB2-BD59-A6C34878D82A}">
                    <a16:rowId xmlns:a16="http://schemas.microsoft.com/office/drawing/2014/main" val="2720635766"/>
                  </a:ext>
                </a:extLst>
              </a:tr>
            </a:tbl>
          </a:graphicData>
        </a:graphic>
      </p:graphicFrame>
      <p:sp>
        <p:nvSpPr>
          <p:cNvPr id="23" name="TextBox 22">
            <a:extLst>
              <a:ext uri="{FF2B5EF4-FFF2-40B4-BE49-F238E27FC236}">
                <a16:creationId xmlns:a16="http://schemas.microsoft.com/office/drawing/2014/main" id="{44D0B476-A226-99E6-B6A4-466D416DA42B}"/>
              </a:ext>
            </a:extLst>
          </p:cNvPr>
          <p:cNvSpPr txBox="1"/>
          <p:nvPr/>
        </p:nvSpPr>
        <p:spPr>
          <a:xfrm>
            <a:off x="10090337" y="16290316"/>
            <a:ext cx="10379486" cy="1323439"/>
          </a:xfrm>
          <a:prstGeom prst="rect">
            <a:avLst/>
          </a:prstGeom>
          <a:noFill/>
        </p:spPr>
        <p:txBody>
          <a:bodyPr wrap="square" rtlCol="0">
            <a:spAutoFit/>
          </a:bodyPr>
          <a:lstStyle/>
          <a:p>
            <a:r>
              <a:rPr lang="en-GB" sz="2000" b="1" dirty="0"/>
              <a:t>Figure 3.</a:t>
            </a:r>
            <a:r>
              <a:rPr lang="en-GB" sz="2000" dirty="0"/>
              <a:t> Scatter plot showing mushroom abundance across a gradient of soil moisture (%) in shaded and unshaded quadrats.( n=4) Points are colour-coded by solar exposure. Pearson’s correlation indicated no significant linear relationship between soil moisture and mushroom abundance (r = −0.03, p = 0.94).</a:t>
            </a:r>
          </a:p>
        </p:txBody>
      </p:sp>
      <p:sp>
        <p:nvSpPr>
          <p:cNvPr id="25" name="TextBox 24">
            <a:extLst>
              <a:ext uri="{FF2B5EF4-FFF2-40B4-BE49-F238E27FC236}">
                <a16:creationId xmlns:a16="http://schemas.microsoft.com/office/drawing/2014/main" id="{154A260D-519C-444B-939F-D520A3605BBC}"/>
              </a:ext>
            </a:extLst>
          </p:cNvPr>
          <p:cNvSpPr txBox="1"/>
          <p:nvPr/>
        </p:nvSpPr>
        <p:spPr>
          <a:xfrm>
            <a:off x="120237" y="15496579"/>
            <a:ext cx="10379486" cy="1323439"/>
          </a:xfrm>
          <a:prstGeom prst="rect">
            <a:avLst/>
          </a:prstGeom>
          <a:noFill/>
        </p:spPr>
        <p:txBody>
          <a:bodyPr wrap="square" rtlCol="0">
            <a:spAutoFit/>
          </a:bodyPr>
          <a:lstStyle/>
          <a:p>
            <a:r>
              <a:rPr lang="en-GB" sz="2000" b="1" dirty="0"/>
              <a:t>Figure 1 </a:t>
            </a:r>
          </a:p>
          <a:p>
            <a:r>
              <a:rPr lang="en-GB" sz="2000" dirty="0"/>
              <a:t>Boxplot showing mushroom abundance in shaded and unshaded 10m x 10m areas. (n=4) Mean abundance was higher in unshaded sites (58.0) than shaded sites (7.75), but the difference was not statistically significant (Welch’s t-test, p = 0.09)</a:t>
            </a:r>
          </a:p>
        </p:txBody>
      </p:sp>
      <p:sp>
        <p:nvSpPr>
          <p:cNvPr id="27" name="TextBox 26">
            <a:extLst>
              <a:ext uri="{FF2B5EF4-FFF2-40B4-BE49-F238E27FC236}">
                <a16:creationId xmlns:a16="http://schemas.microsoft.com/office/drawing/2014/main" id="{E4E37DD2-884E-C84B-39E1-0D94F7678894}"/>
              </a:ext>
            </a:extLst>
          </p:cNvPr>
          <p:cNvSpPr txBox="1"/>
          <p:nvPr/>
        </p:nvSpPr>
        <p:spPr>
          <a:xfrm>
            <a:off x="309415" y="22065938"/>
            <a:ext cx="10081793" cy="1323439"/>
          </a:xfrm>
          <a:prstGeom prst="rect">
            <a:avLst/>
          </a:prstGeom>
          <a:noFill/>
        </p:spPr>
        <p:txBody>
          <a:bodyPr wrap="square" rtlCol="0">
            <a:spAutoFit/>
          </a:bodyPr>
          <a:lstStyle/>
          <a:p>
            <a:r>
              <a:rPr lang="en-GB" sz="2000" b="1" dirty="0"/>
              <a:t>Figure 2</a:t>
            </a:r>
          </a:p>
          <a:p>
            <a:r>
              <a:rPr lang="en-GB" sz="2000" dirty="0"/>
              <a:t>Distribution of soil moisture content in shaded vs unshaded areas. (n=4) The unshaded area had a higher mean moisture content (21.29%) than the shaded area (17.72%), but the difference was not statistically significant (Welch’s t-test p= 0.229)</a:t>
            </a:r>
          </a:p>
        </p:txBody>
      </p:sp>
      <p:sp>
        <p:nvSpPr>
          <p:cNvPr id="29" name="TextBox 28">
            <a:extLst>
              <a:ext uri="{FF2B5EF4-FFF2-40B4-BE49-F238E27FC236}">
                <a16:creationId xmlns:a16="http://schemas.microsoft.com/office/drawing/2014/main" id="{5E931F4F-54AC-BADE-E9A7-6D78B81ACB09}"/>
              </a:ext>
            </a:extLst>
          </p:cNvPr>
          <p:cNvSpPr txBox="1"/>
          <p:nvPr/>
        </p:nvSpPr>
        <p:spPr>
          <a:xfrm>
            <a:off x="210418" y="29289470"/>
            <a:ext cx="20245670" cy="923330"/>
          </a:xfrm>
          <a:prstGeom prst="rect">
            <a:avLst/>
          </a:prstGeom>
          <a:noFill/>
        </p:spPr>
        <p:txBody>
          <a:bodyPr wrap="square">
            <a:spAutoFit/>
          </a:bodyPr>
          <a:lstStyle/>
          <a:p>
            <a:r>
              <a:rPr lang="en-GB" sz="1800" b="0" i="0" dirty="0">
                <a:solidFill>
                  <a:srgbClr val="000000"/>
                </a:solidFill>
                <a:effectLst/>
                <a:latin typeface="Calibri" panose="020F0502020204030204" pitchFamily="34" charset="0"/>
              </a:rPr>
              <a:t>[1] </a:t>
            </a:r>
            <a:r>
              <a:rPr lang="en-GB" dirty="0"/>
              <a:t>Sakamoto Y. Influences of environmental factors on fruiting body induction, development and maturation in mushroom-forming fungi. Fungal </a:t>
            </a:r>
            <a:r>
              <a:rPr lang="en-GB" dirty="0" err="1"/>
              <a:t>Biol</a:t>
            </a:r>
            <a:r>
              <a:rPr lang="en-GB" dirty="0"/>
              <a:t> Rev. 2018;32(4):236–48.</a:t>
            </a:r>
          </a:p>
          <a:p>
            <a:r>
              <a:rPr lang="en-GB" sz="1800" dirty="0">
                <a:solidFill>
                  <a:srgbClr val="000000"/>
                </a:solidFill>
                <a:latin typeface="Calibri" panose="020F0502020204030204" pitchFamily="34" charset="0"/>
              </a:rPr>
              <a:t>[2] </a:t>
            </a:r>
            <a:r>
              <a:rPr lang="en-GB" dirty="0"/>
              <a:t>Arias-Real R, Gutiérrez-</a:t>
            </a:r>
            <a:r>
              <a:rPr lang="en-GB" dirty="0" err="1"/>
              <a:t>Cánovas</a:t>
            </a:r>
            <a:r>
              <a:rPr lang="en-GB" dirty="0"/>
              <a:t> C, Muñoz I, Pascoal C, Menéndez M. Fungal Biodiversity Mediates the Effects of Drying on Freshwater Ecosystem Functioning. </a:t>
            </a:r>
            <a:r>
              <a:rPr lang="en-GB" i="1" dirty="0"/>
              <a:t>Ecosystems</a:t>
            </a:r>
            <a:r>
              <a:rPr lang="en-GB" dirty="0"/>
              <a:t>. 2021 Aug 3;25(4):780–94.</a:t>
            </a:r>
          </a:p>
          <a:p>
            <a:r>
              <a:rPr lang="en-GB" dirty="0"/>
              <a:t>‌[3] Construction How. Determination of moisture content: oven drying method [Internet]. 2024 [cited 2024 May 15]. Available from: </a:t>
            </a:r>
            <a:r>
              <a:rPr lang="en-GB" dirty="0">
                <a:hlinkClick r:id="rId3"/>
              </a:rPr>
              <a:t>https://constructionhow.com/moisture-content-oven-drying/</a:t>
            </a:r>
            <a:r>
              <a:rPr lang="en-GB" sz="1800" dirty="0"/>
              <a:t>‌</a:t>
            </a:r>
          </a:p>
        </p:txBody>
      </p:sp>
      <p:pic>
        <p:nvPicPr>
          <p:cNvPr id="34" name="Picture 33">
            <a:extLst>
              <a:ext uri="{FF2B5EF4-FFF2-40B4-BE49-F238E27FC236}">
                <a16:creationId xmlns:a16="http://schemas.microsoft.com/office/drawing/2014/main" id="{D53614DA-64A8-573D-8C7E-F52B6B846280}"/>
              </a:ext>
            </a:extLst>
          </p:cNvPr>
          <p:cNvPicPr>
            <a:picLocks noChangeAspect="1"/>
          </p:cNvPicPr>
          <p:nvPr/>
        </p:nvPicPr>
        <p:blipFill>
          <a:blip r:embed="rId4"/>
          <a:stretch>
            <a:fillRect/>
          </a:stretch>
        </p:blipFill>
        <p:spPr>
          <a:xfrm>
            <a:off x="120237" y="10391053"/>
            <a:ext cx="9393186" cy="4776028"/>
          </a:xfrm>
          <a:prstGeom prst="rect">
            <a:avLst/>
          </a:prstGeom>
        </p:spPr>
      </p:pic>
      <p:pic>
        <p:nvPicPr>
          <p:cNvPr id="40" name="Picture 39">
            <a:extLst>
              <a:ext uri="{FF2B5EF4-FFF2-40B4-BE49-F238E27FC236}">
                <a16:creationId xmlns:a16="http://schemas.microsoft.com/office/drawing/2014/main" id="{C2578DC5-C871-81E6-8324-1E922DA27470}"/>
              </a:ext>
            </a:extLst>
          </p:cNvPr>
          <p:cNvPicPr>
            <a:picLocks noChangeAspect="1"/>
          </p:cNvPicPr>
          <p:nvPr/>
        </p:nvPicPr>
        <p:blipFill>
          <a:blip r:embed="rId5"/>
          <a:stretch>
            <a:fillRect/>
          </a:stretch>
        </p:blipFill>
        <p:spPr>
          <a:xfrm>
            <a:off x="461999" y="16990870"/>
            <a:ext cx="9173791" cy="5075068"/>
          </a:xfrm>
          <a:prstGeom prst="rect">
            <a:avLst/>
          </a:prstGeom>
        </p:spPr>
      </p:pic>
      <p:pic>
        <p:nvPicPr>
          <p:cNvPr id="42" name="Picture 41">
            <a:extLst>
              <a:ext uri="{FF2B5EF4-FFF2-40B4-BE49-F238E27FC236}">
                <a16:creationId xmlns:a16="http://schemas.microsoft.com/office/drawing/2014/main" id="{BFEAECE0-59BA-8F6B-11A8-C6E82E6A6F3C}"/>
              </a:ext>
            </a:extLst>
          </p:cNvPr>
          <p:cNvPicPr>
            <a:picLocks noChangeAspect="1"/>
          </p:cNvPicPr>
          <p:nvPr/>
        </p:nvPicPr>
        <p:blipFill>
          <a:blip r:embed="rId6"/>
          <a:stretch>
            <a:fillRect/>
          </a:stretch>
        </p:blipFill>
        <p:spPr>
          <a:xfrm>
            <a:off x="9778343" y="10391053"/>
            <a:ext cx="11211073" cy="5855159"/>
          </a:xfrm>
          <a:prstGeom prst="rect">
            <a:avLst/>
          </a:prstGeom>
        </p:spPr>
      </p:pic>
      <p:pic>
        <p:nvPicPr>
          <p:cNvPr id="1028" name="Picture 4">
            <a:extLst>
              <a:ext uri="{FF2B5EF4-FFF2-40B4-BE49-F238E27FC236}">
                <a16:creationId xmlns:a16="http://schemas.microsoft.com/office/drawing/2014/main" id="{1E394E45-8EAD-E2DD-D654-3C858E59F1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62413"/>
            <a:ext cx="2936710" cy="1354558"/>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49A5B37E-C417-02C6-F693-D4D41E1BFE56}"/>
              </a:ext>
            </a:extLst>
          </p:cNvPr>
          <p:cNvSpPr txBox="1"/>
          <p:nvPr/>
        </p:nvSpPr>
        <p:spPr>
          <a:xfrm>
            <a:off x="10084774" y="19022370"/>
            <a:ext cx="10800081" cy="1938992"/>
          </a:xfrm>
          <a:prstGeom prst="rect">
            <a:avLst/>
          </a:prstGeom>
          <a:noFill/>
        </p:spPr>
        <p:txBody>
          <a:bodyPr wrap="square" rtlCol="0">
            <a:spAutoFit/>
          </a:bodyPr>
          <a:lstStyle/>
          <a:p>
            <a:r>
              <a:rPr lang="en-GB" sz="2000" b="1" dirty="0">
                <a:highlight>
                  <a:srgbClr val="FFFF00"/>
                </a:highlight>
              </a:rPr>
              <a:t>Key Takeaways</a:t>
            </a:r>
          </a:p>
          <a:p>
            <a:r>
              <a:rPr lang="en-GB" sz="2000" b="1" dirty="0">
                <a:highlight>
                  <a:srgbClr val="FFFF00"/>
                </a:highlight>
              </a:rPr>
              <a:t>-Hypothesis is refuted Hypothesis Refuted – Unshaded areas have higher mushroom abundance than shaded areas</a:t>
            </a:r>
            <a:r>
              <a:rPr lang="en-GB" sz="2000" dirty="0">
                <a:highlight>
                  <a:srgbClr val="FFFF00"/>
                </a:highlight>
              </a:rPr>
              <a:t> despite greater solar exposure (avg. 58.0 compared to 7.77)</a:t>
            </a:r>
            <a:endParaRPr lang="en-GB" sz="2000" b="1" dirty="0">
              <a:highlight>
                <a:srgbClr val="FFFF00"/>
              </a:highlight>
            </a:endParaRPr>
          </a:p>
          <a:p>
            <a:r>
              <a:rPr lang="en-GB" sz="2000" dirty="0">
                <a:highlight>
                  <a:srgbClr val="FFFF00"/>
                </a:highlight>
              </a:rPr>
              <a:t> -</a:t>
            </a:r>
            <a:r>
              <a:rPr lang="en-GB" sz="2000" b="1" dirty="0">
                <a:highlight>
                  <a:srgbClr val="FFFF00"/>
                </a:highlight>
              </a:rPr>
              <a:t>Non-linear relationship between moisture levels and mushroom abundance</a:t>
            </a:r>
            <a:r>
              <a:rPr lang="en-GB" sz="2000" dirty="0">
                <a:highlight>
                  <a:srgbClr val="FFFF00"/>
                </a:highlight>
              </a:rPr>
              <a:t> indicates a potential “threshold effect” as mushroom abundance peaked at intermediate levels and not in a linear fashion.</a:t>
            </a:r>
          </a:p>
        </p:txBody>
      </p:sp>
    </p:spTree>
    <p:extLst>
      <p:ext uri="{BB962C8B-B14F-4D97-AF65-F5344CB8AC3E}">
        <p14:creationId xmlns:p14="http://schemas.microsoft.com/office/powerpoint/2010/main" val="5537277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2387</TotalTime>
  <Words>863</Words>
  <Application>Microsoft Office PowerPoint</Application>
  <PresentationFormat>Custom</PresentationFormat>
  <Paragraphs>46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Duaa Haider</dc:creator>
  <cp:lastModifiedBy>Duaa Haider</cp:lastModifiedBy>
  <cp:revision>2</cp:revision>
  <cp:lastPrinted>2026-01-12T10:50:50Z</cp:lastPrinted>
  <dcterms:created xsi:type="dcterms:W3CDTF">2025-12-18T22:13:52Z</dcterms:created>
  <dcterms:modified xsi:type="dcterms:W3CDTF">2026-06-04T22:36:21Z</dcterms:modified>
</cp:coreProperties>
</file>